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3" r:id="rId8"/>
    <p:sldId id="270" r:id="rId9"/>
    <p:sldId id="267" r:id="rId10"/>
    <p:sldId id="268" r:id="rId11"/>
  </p:sldIdLst>
  <p:sldSz cx="18288000" cy="10287000"/>
  <p:notesSz cx="6858000" cy="9144000"/>
  <p:embeddedFontLst>
    <p:embeddedFont>
      <p:font typeface="Aileron" panose="020B0604020202020204" charset="0"/>
      <p:regular r:id="rId12"/>
    </p:embeddedFont>
    <p:embeddedFont>
      <p:font typeface="Aileron Bold" panose="020B0604020202020204" charset="0"/>
      <p:regular r:id="rId13"/>
    </p:embeddedFont>
    <p:embeddedFont>
      <p:font typeface="Akzidenz-Grotesk Heavy" panose="020B0604020202020204" charset="0"/>
      <p:regular r:id="rId14"/>
    </p:embeddedFont>
    <p:embeddedFont>
      <p:font typeface="Barlow Condensed Heavy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22" autoAdjust="0"/>
  </p:normalViewPr>
  <p:slideViewPr>
    <p:cSldViewPr>
      <p:cViewPr>
        <p:scale>
          <a:sx n="33" d="100"/>
          <a:sy n="33" d="100"/>
        </p:scale>
        <p:origin x="1949" y="6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C54931-E6DE-4C12-A51D-07F7CAFA30AC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29D52D-28A7-4F72-9A29-229590E9FCE8}">
      <dgm:prSet phldrT="[Text]" phldr="0"/>
      <dgm:spPr/>
      <dgm:t>
        <a:bodyPr/>
        <a:lstStyle/>
        <a:p>
          <a:r>
            <a:rPr lang="en-US" dirty="0"/>
            <a:t>01.</a:t>
          </a:r>
        </a:p>
      </dgm:t>
    </dgm:pt>
    <dgm:pt modelId="{6BFC7250-12DB-46EC-BEBD-B8E6635FA2BD}" type="parTrans" cxnId="{5E791667-6000-4630-966E-89AB9A0E5EBA}">
      <dgm:prSet/>
      <dgm:spPr/>
      <dgm:t>
        <a:bodyPr/>
        <a:lstStyle/>
        <a:p>
          <a:endParaRPr lang="en-US"/>
        </a:p>
      </dgm:t>
    </dgm:pt>
    <dgm:pt modelId="{FD15D816-715C-4798-93CC-5ECA038D0B6A}" type="sibTrans" cxnId="{5E791667-6000-4630-966E-89AB9A0E5EBA}">
      <dgm:prSet/>
      <dgm:spPr/>
      <dgm:t>
        <a:bodyPr/>
        <a:lstStyle/>
        <a:p>
          <a:endParaRPr lang="en-US"/>
        </a:p>
      </dgm:t>
    </dgm:pt>
    <dgm:pt modelId="{997D8E6E-D1F3-4DD0-A72A-66BEB34066B2}">
      <dgm:prSet phldrT="[Text]" phldr="0"/>
      <dgm:spPr/>
      <dgm:t>
        <a:bodyPr/>
        <a:lstStyle/>
        <a:p>
          <a:r>
            <a:rPr lang="en-US">
              <a:solidFill>
                <a:schemeClr val="tx2">
                  <a:lumMod val="50000"/>
                </a:schemeClr>
              </a:solidFill>
              <a:latin typeface="Aileron" panose="020B0604020202020204" charset="0"/>
            </a:rPr>
            <a:t>Higher clean water = Lower Mortality</a:t>
          </a:r>
          <a:endParaRPr lang="en-US" dirty="0">
            <a:solidFill>
              <a:schemeClr val="tx2">
                <a:lumMod val="50000"/>
              </a:schemeClr>
            </a:solidFill>
            <a:latin typeface="Aileron" panose="020B0604020202020204" charset="0"/>
          </a:endParaRPr>
        </a:p>
      </dgm:t>
    </dgm:pt>
    <dgm:pt modelId="{C692D05C-25B8-44BB-9FCD-71CE3A9A5C8E}" type="parTrans" cxnId="{D1D285B1-D7CD-45F0-BF89-28698C15DA5C}">
      <dgm:prSet/>
      <dgm:spPr/>
      <dgm:t>
        <a:bodyPr/>
        <a:lstStyle/>
        <a:p>
          <a:endParaRPr lang="en-US"/>
        </a:p>
      </dgm:t>
    </dgm:pt>
    <dgm:pt modelId="{178E399E-9E9C-4D40-B601-F9EB9CDBCBDF}" type="sibTrans" cxnId="{D1D285B1-D7CD-45F0-BF89-28698C15DA5C}">
      <dgm:prSet/>
      <dgm:spPr/>
      <dgm:t>
        <a:bodyPr/>
        <a:lstStyle/>
        <a:p>
          <a:endParaRPr lang="en-US"/>
        </a:p>
      </dgm:t>
    </dgm:pt>
    <dgm:pt modelId="{0BDFBBDE-5209-46EB-AC97-DDDCFDE9A401}">
      <dgm:prSet phldrT="[Text]" phldr="0"/>
      <dgm:spPr/>
      <dgm:t>
        <a:bodyPr/>
        <a:lstStyle/>
        <a:p>
          <a:r>
            <a:rPr lang="en-US">
              <a:solidFill>
                <a:schemeClr val="tx2">
                  <a:lumMod val="50000"/>
                </a:schemeClr>
              </a:solidFill>
              <a:latin typeface="Aileron" panose="020B0604020202020204" charset="0"/>
            </a:rPr>
            <a:t>Sub-Saharan Africa has the lowest access to water, sanitation, and hygiene </a:t>
          </a:r>
          <a:endParaRPr lang="en-US" dirty="0">
            <a:solidFill>
              <a:schemeClr val="tx2">
                <a:lumMod val="50000"/>
              </a:schemeClr>
            </a:solidFill>
            <a:latin typeface="Aileron" panose="020B0604020202020204" charset="0"/>
          </a:endParaRPr>
        </a:p>
      </dgm:t>
    </dgm:pt>
    <dgm:pt modelId="{39BD289D-9BFB-4009-BD5D-01F72F8F2AA8}" type="parTrans" cxnId="{7898F1F5-9673-47C8-87BD-AB55BB43A9A4}">
      <dgm:prSet/>
      <dgm:spPr/>
      <dgm:t>
        <a:bodyPr/>
        <a:lstStyle/>
        <a:p>
          <a:endParaRPr lang="en-US"/>
        </a:p>
      </dgm:t>
    </dgm:pt>
    <dgm:pt modelId="{2C1AB7ED-42A4-4463-89B5-5315EC0E589B}" type="sibTrans" cxnId="{7898F1F5-9673-47C8-87BD-AB55BB43A9A4}">
      <dgm:prSet/>
      <dgm:spPr/>
      <dgm:t>
        <a:bodyPr/>
        <a:lstStyle/>
        <a:p>
          <a:endParaRPr lang="en-US"/>
        </a:p>
      </dgm:t>
    </dgm:pt>
    <dgm:pt modelId="{2CACC40B-9A6C-48C5-AA69-02F00C34AE58}">
      <dgm:prSet phldrT="[Text]" phldr="0"/>
      <dgm:spPr/>
      <dgm:t>
        <a:bodyPr/>
        <a:lstStyle/>
        <a:p>
          <a:r>
            <a:rPr lang="en-US" dirty="0"/>
            <a:t>03.</a:t>
          </a:r>
        </a:p>
      </dgm:t>
    </dgm:pt>
    <dgm:pt modelId="{DF7E8DE9-2270-41C7-BB75-382112334F1C}" type="parTrans" cxnId="{2835F348-3321-411D-8122-4BC89FD80F74}">
      <dgm:prSet/>
      <dgm:spPr/>
      <dgm:t>
        <a:bodyPr/>
        <a:lstStyle/>
        <a:p>
          <a:endParaRPr lang="en-US"/>
        </a:p>
      </dgm:t>
    </dgm:pt>
    <dgm:pt modelId="{771C324F-44C6-41B7-A3CE-C6B5EA3B028D}" type="sibTrans" cxnId="{2835F348-3321-411D-8122-4BC89FD80F74}">
      <dgm:prSet/>
      <dgm:spPr/>
      <dgm:t>
        <a:bodyPr/>
        <a:lstStyle/>
        <a:p>
          <a:endParaRPr lang="en-US"/>
        </a:p>
      </dgm:t>
    </dgm:pt>
    <dgm:pt modelId="{A8B4F82F-AD0D-4919-A89E-A3E98CA643E4}">
      <dgm:prSet phldrT="[Text]" phldr="0"/>
      <dgm:spPr/>
      <dgm:t>
        <a:bodyPr/>
        <a:lstStyle/>
        <a:p>
          <a:r>
            <a:rPr lang="en-US">
              <a:solidFill>
                <a:schemeClr val="tx2">
                  <a:lumMod val="50000"/>
                </a:schemeClr>
              </a:solidFill>
              <a:latin typeface="Aileron" panose="020B0604020202020204" charset="0"/>
            </a:rPr>
            <a:t>Countries with strong water infrastructure = Low Mortality</a:t>
          </a:r>
          <a:endParaRPr lang="en-US" dirty="0">
            <a:solidFill>
              <a:schemeClr val="tx2">
                <a:lumMod val="50000"/>
              </a:schemeClr>
            </a:solidFill>
            <a:latin typeface="Aileron" panose="020B0604020202020204" charset="0"/>
          </a:endParaRPr>
        </a:p>
      </dgm:t>
    </dgm:pt>
    <dgm:pt modelId="{7F32372C-35F0-4C4F-9EFD-13587EB33E44}" type="parTrans" cxnId="{42C1D056-AA30-44B6-92D8-BFA19EC06B20}">
      <dgm:prSet/>
      <dgm:spPr/>
      <dgm:t>
        <a:bodyPr/>
        <a:lstStyle/>
        <a:p>
          <a:endParaRPr lang="en-US"/>
        </a:p>
      </dgm:t>
    </dgm:pt>
    <dgm:pt modelId="{BD5B3C3E-A035-4710-8D37-BCC5AEC7BB11}" type="sibTrans" cxnId="{42C1D056-AA30-44B6-92D8-BFA19EC06B20}">
      <dgm:prSet/>
      <dgm:spPr/>
      <dgm:t>
        <a:bodyPr/>
        <a:lstStyle/>
        <a:p>
          <a:endParaRPr lang="en-US"/>
        </a:p>
      </dgm:t>
    </dgm:pt>
    <dgm:pt modelId="{76EB2E84-4AB9-4A8F-90C2-5F4A33A9C666}">
      <dgm:prSet phldrT="[Text]" phldr="0"/>
      <dgm:spPr/>
      <dgm:t>
        <a:bodyPr/>
        <a:lstStyle/>
        <a:p>
          <a:r>
            <a:rPr lang="en-US" dirty="0"/>
            <a:t>02.</a:t>
          </a:r>
        </a:p>
      </dgm:t>
    </dgm:pt>
    <dgm:pt modelId="{4EA5A92F-ABB1-4AED-8A81-B4CE9F4F855B}" type="sibTrans" cxnId="{4EEDDEC5-64E0-4078-BCD6-72A9CCE21DB5}">
      <dgm:prSet/>
      <dgm:spPr/>
      <dgm:t>
        <a:bodyPr/>
        <a:lstStyle/>
        <a:p>
          <a:endParaRPr lang="en-US"/>
        </a:p>
      </dgm:t>
    </dgm:pt>
    <dgm:pt modelId="{8761E9B2-B99C-49FC-9C54-BA900F2F4325}" type="parTrans" cxnId="{4EEDDEC5-64E0-4078-BCD6-72A9CCE21DB5}">
      <dgm:prSet/>
      <dgm:spPr/>
      <dgm:t>
        <a:bodyPr/>
        <a:lstStyle/>
        <a:p>
          <a:endParaRPr lang="en-US"/>
        </a:p>
      </dgm:t>
    </dgm:pt>
    <dgm:pt modelId="{6DBB8714-DFBE-4979-902A-1A36F0F4249F}" type="pres">
      <dgm:prSet presAssocID="{D2C54931-E6DE-4C12-A51D-07F7CAFA30AC}" presName="rootnode" presStyleCnt="0">
        <dgm:presLayoutVars>
          <dgm:chMax/>
          <dgm:chPref/>
          <dgm:dir/>
          <dgm:animLvl val="lvl"/>
        </dgm:presLayoutVars>
      </dgm:prSet>
      <dgm:spPr/>
    </dgm:pt>
    <dgm:pt modelId="{521023E7-6F6C-4E90-8E5F-64C2BBB28788}" type="pres">
      <dgm:prSet presAssocID="{C429D52D-28A7-4F72-9A29-229590E9FCE8}" presName="composite" presStyleCnt="0"/>
      <dgm:spPr/>
    </dgm:pt>
    <dgm:pt modelId="{4A041AF7-C479-4F35-AA3D-6CF2DEFDBB52}" type="pres">
      <dgm:prSet presAssocID="{C429D52D-28A7-4F72-9A29-229590E9FCE8}" presName="bentUpArrow1" presStyleLbl="alignImgPlace1" presStyleIdx="0" presStyleCnt="2" custScaleX="84855" custScaleY="84224" custLinFactNeighborX="-59519" custLinFactNeighborY="-10502"/>
      <dgm:spPr/>
    </dgm:pt>
    <dgm:pt modelId="{DA9A84B1-B509-4669-89E5-26F30A778570}" type="pres">
      <dgm:prSet presAssocID="{C429D52D-28A7-4F72-9A29-229590E9FCE8}" presName="ParentText" presStyleLbl="node1" presStyleIdx="0" presStyleCnt="3" custScaleX="87584" custScaleY="75105" custLinFactNeighborX="-47332" custLinFactNeighborY="-804">
        <dgm:presLayoutVars>
          <dgm:chMax val="1"/>
          <dgm:chPref val="1"/>
          <dgm:bulletEnabled val="1"/>
        </dgm:presLayoutVars>
      </dgm:prSet>
      <dgm:spPr/>
    </dgm:pt>
    <dgm:pt modelId="{23AC89D4-F093-4839-982D-0FB4683FBA3B}" type="pres">
      <dgm:prSet presAssocID="{C429D52D-28A7-4F72-9A29-229590E9FCE8}" presName="ChildText" presStyleLbl="revTx" presStyleIdx="0" presStyleCnt="3" custScaleX="530506" custLinFactX="52015" custLinFactNeighborX="100000" custLinFactNeighborY="2148">
        <dgm:presLayoutVars>
          <dgm:chMax val="0"/>
          <dgm:chPref val="0"/>
          <dgm:bulletEnabled val="1"/>
        </dgm:presLayoutVars>
      </dgm:prSet>
      <dgm:spPr/>
    </dgm:pt>
    <dgm:pt modelId="{84E766B1-3205-4E2D-99D8-3CB91C095141}" type="pres">
      <dgm:prSet presAssocID="{FD15D816-715C-4798-93CC-5ECA038D0B6A}" presName="sibTrans" presStyleCnt="0"/>
      <dgm:spPr/>
    </dgm:pt>
    <dgm:pt modelId="{9A126B74-E179-4F8A-A96B-552EAA59A025}" type="pres">
      <dgm:prSet presAssocID="{76EB2E84-4AB9-4A8F-90C2-5F4A33A9C666}" presName="composite" presStyleCnt="0"/>
      <dgm:spPr/>
    </dgm:pt>
    <dgm:pt modelId="{587BBB2E-64E7-47DD-AC01-85E9524F3C7C}" type="pres">
      <dgm:prSet presAssocID="{76EB2E84-4AB9-4A8F-90C2-5F4A33A9C666}" presName="bentUpArrow1" presStyleLbl="alignImgPlace1" presStyleIdx="1" presStyleCnt="2" custScaleX="108317" custScaleY="86261" custLinFactX="-74208" custLinFactNeighborX="-100000" custLinFactNeighborY="-18799"/>
      <dgm:spPr/>
    </dgm:pt>
    <dgm:pt modelId="{9FA50F87-7B63-44DD-A167-5E0B961710FF}" type="pres">
      <dgm:prSet presAssocID="{76EB2E84-4AB9-4A8F-90C2-5F4A33A9C666}" presName="ParentText" presStyleLbl="node1" presStyleIdx="1" presStyleCnt="3" custScaleX="93377" custScaleY="71117" custLinFactX="-38016" custLinFactNeighborX="-100000" custLinFactNeighborY="2361">
        <dgm:presLayoutVars>
          <dgm:chMax val="1"/>
          <dgm:chPref val="1"/>
          <dgm:bulletEnabled val="1"/>
        </dgm:presLayoutVars>
      </dgm:prSet>
      <dgm:spPr/>
    </dgm:pt>
    <dgm:pt modelId="{14C6706B-6634-4075-BC4B-262759AD6AAA}" type="pres">
      <dgm:prSet presAssocID="{76EB2E84-4AB9-4A8F-90C2-5F4A33A9C666}" presName="ChildText" presStyleLbl="revTx" presStyleIdx="1" presStyleCnt="3" custScaleX="482698" custScaleY="131950" custLinFactNeighborX="8060" custLinFactNeighborY="11271">
        <dgm:presLayoutVars>
          <dgm:chMax val="0"/>
          <dgm:chPref val="0"/>
          <dgm:bulletEnabled val="1"/>
        </dgm:presLayoutVars>
      </dgm:prSet>
      <dgm:spPr/>
    </dgm:pt>
    <dgm:pt modelId="{CD267A53-7394-4093-A8CA-9CE50712AC80}" type="pres">
      <dgm:prSet presAssocID="{4EA5A92F-ABB1-4AED-8A81-B4CE9F4F855B}" presName="sibTrans" presStyleCnt="0"/>
      <dgm:spPr/>
    </dgm:pt>
    <dgm:pt modelId="{1FA2C4B2-9ED7-4F7A-84D1-93D4B58B5461}" type="pres">
      <dgm:prSet presAssocID="{2CACC40B-9A6C-48C5-AA69-02F00C34AE58}" presName="composite" presStyleCnt="0"/>
      <dgm:spPr/>
    </dgm:pt>
    <dgm:pt modelId="{620EA9F5-C645-4755-90FF-18037D95ACEC}" type="pres">
      <dgm:prSet presAssocID="{2CACC40B-9A6C-48C5-AA69-02F00C34AE58}" presName="ParentText" presStyleLbl="node1" presStyleIdx="2" presStyleCnt="3" custScaleX="87694" custScaleY="78435" custLinFactX="-100000" custLinFactNeighborX="-109211" custLinFactNeighborY="9202">
        <dgm:presLayoutVars>
          <dgm:chMax val="1"/>
          <dgm:chPref val="1"/>
          <dgm:bulletEnabled val="1"/>
        </dgm:presLayoutVars>
      </dgm:prSet>
      <dgm:spPr/>
    </dgm:pt>
    <dgm:pt modelId="{6E1BED1A-5F8E-4194-8B1D-90A2EA66B7DB}" type="pres">
      <dgm:prSet presAssocID="{2CACC40B-9A6C-48C5-AA69-02F00C34AE58}" presName="FinalChildText" presStyleLbl="revTx" presStyleIdx="2" presStyleCnt="3" custScaleX="444102" custLinFactX="-12108" custLinFactNeighborX="-100000" custLinFactNeighborY="16281">
        <dgm:presLayoutVars>
          <dgm:chMax val="0"/>
          <dgm:chPref val="0"/>
          <dgm:bulletEnabled val="1"/>
        </dgm:presLayoutVars>
      </dgm:prSet>
      <dgm:spPr/>
    </dgm:pt>
  </dgm:ptLst>
  <dgm:cxnLst>
    <dgm:cxn modelId="{58E97A2E-95D2-4878-8476-09875ACEB81B}" type="presOf" srcId="{76EB2E84-4AB9-4A8F-90C2-5F4A33A9C666}" destId="{9FA50F87-7B63-44DD-A167-5E0B961710FF}" srcOrd="0" destOrd="0" presId="urn:microsoft.com/office/officeart/2005/8/layout/StepDownProcess"/>
    <dgm:cxn modelId="{21129E5C-0BF1-49EC-9B82-158BC3892C68}" type="presOf" srcId="{C429D52D-28A7-4F72-9A29-229590E9FCE8}" destId="{DA9A84B1-B509-4669-89E5-26F30A778570}" srcOrd="0" destOrd="0" presId="urn:microsoft.com/office/officeart/2005/8/layout/StepDownProcess"/>
    <dgm:cxn modelId="{5E791667-6000-4630-966E-89AB9A0E5EBA}" srcId="{D2C54931-E6DE-4C12-A51D-07F7CAFA30AC}" destId="{C429D52D-28A7-4F72-9A29-229590E9FCE8}" srcOrd="0" destOrd="0" parTransId="{6BFC7250-12DB-46EC-BEBD-B8E6635FA2BD}" sibTransId="{FD15D816-715C-4798-93CC-5ECA038D0B6A}"/>
    <dgm:cxn modelId="{2835F348-3321-411D-8122-4BC89FD80F74}" srcId="{D2C54931-E6DE-4C12-A51D-07F7CAFA30AC}" destId="{2CACC40B-9A6C-48C5-AA69-02F00C34AE58}" srcOrd="2" destOrd="0" parTransId="{DF7E8DE9-2270-41C7-BB75-382112334F1C}" sibTransId="{771C324F-44C6-41B7-A3CE-C6B5EA3B028D}"/>
    <dgm:cxn modelId="{42C1D056-AA30-44B6-92D8-BFA19EC06B20}" srcId="{2CACC40B-9A6C-48C5-AA69-02F00C34AE58}" destId="{A8B4F82F-AD0D-4919-A89E-A3E98CA643E4}" srcOrd="0" destOrd="0" parTransId="{7F32372C-35F0-4C4F-9EFD-13587EB33E44}" sibTransId="{BD5B3C3E-A035-4710-8D37-BCC5AEC7BB11}"/>
    <dgm:cxn modelId="{FCC4E578-9A7B-4065-8221-43898F39E1E9}" type="presOf" srcId="{A8B4F82F-AD0D-4919-A89E-A3E98CA643E4}" destId="{6E1BED1A-5F8E-4194-8B1D-90A2EA66B7DB}" srcOrd="0" destOrd="0" presId="urn:microsoft.com/office/officeart/2005/8/layout/StepDownProcess"/>
    <dgm:cxn modelId="{06219B7E-A112-48F7-BD7C-DC9C490B78E5}" type="presOf" srcId="{D2C54931-E6DE-4C12-A51D-07F7CAFA30AC}" destId="{6DBB8714-DFBE-4979-902A-1A36F0F4249F}" srcOrd="0" destOrd="0" presId="urn:microsoft.com/office/officeart/2005/8/layout/StepDownProcess"/>
    <dgm:cxn modelId="{26D82FA5-F1CE-47C6-8AE2-884D304A9288}" type="presOf" srcId="{2CACC40B-9A6C-48C5-AA69-02F00C34AE58}" destId="{620EA9F5-C645-4755-90FF-18037D95ACEC}" srcOrd="0" destOrd="0" presId="urn:microsoft.com/office/officeart/2005/8/layout/StepDownProcess"/>
    <dgm:cxn modelId="{D1D285B1-D7CD-45F0-BF89-28698C15DA5C}" srcId="{C429D52D-28A7-4F72-9A29-229590E9FCE8}" destId="{997D8E6E-D1F3-4DD0-A72A-66BEB34066B2}" srcOrd="0" destOrd="0" parTransId="{C692D05C-25B8-44BB-9FCD-71CE3A9A5C8E}" sibTransId="{178E399E-9E9C-4D40-B601-F9EB9CDBCBDF}"/>
    <dgm:cxn modelId="{25E19BC5-3423-49A7-A43E-97DC5A35C31B}" type="presOf" srcId="{0BDFBBDE-5209-46EB-AC97-DDDCFDE9A401}" destId="{14C6706B-6634-4075-BC4B-262759AD6AAA}" srcOrd="0" destOrd="0" presId="urn:microsoft.com/office/officeart/2005/8/layout/StepDownProcess"/>
    <dgm:cxn modelId="{4EEDDEC5-64E0-4078-BCD6-72A9CCE21DB5}" srcId="{D2C54931-E6DE-4C12-A51D-07F7CAFA30AC}" destId="{76EB2E84-4AB9-4A8F-90C2-5F4A33A9C666}" srcOrd="1" destOrd="0" parTransId="{8761E9B2-B99C-49FC-9C54-BA900F2F4325}" sibTransId="{4EA5A92F-ABB1-4AED-8A81-B4CE9F4F855B}"/>
    <dgm:cxn modelId="{94CE4FD8-936C-4609-8D6B-5256A4712011}" type="presOf" srcId="{997D8E6E-D1F3-4DD0-A72A-66BEB34066B2}" destId="{23AC89D4-F093-4839-982D-0FB4683FBA3B}" srcOrd="0" destOrd="0" presId="urn:microsoft.com/office/officeart/2005/8/layout/StepDownProcess"/>
    <dgm:cxn modelId="{7898F1F5-9673-47C8-87BD-AB55BB43A9A4}" srcId="{76EB2E84-4AB9-4A8F-90C2-5F4A33A9C666}" destId="{0BDFBBDE-5209-46EB-AC97-DDDCFDE9A401}" srcOrd="0" destOrd="0" parTransId="{39BD289D-9BFB-4009-BD5D-01F72F8F2AA8}" sibTransId="{2C1AB7ED-42A4-4463-89B5-5315EC0E589B}"/>
    <dgm:cxn modelId="{1FCB63FB-BFAB-4AD4-B092-D6E0164BCC3B}" type="presParOf" srcId="{6DBB8714-DFBE-4979-902A-1A36F0F4249F}" destId="{521023E7-6F6C-4E90-8E5F-64C2BBB28788}" srcOrd="0" destOrd="0" presId="urn:microsoft.com/office/officeart/2005/8/layout/StepDownProcess"/>
    <dgm:cxn modelId="{09BECD7E-8DBB-45D1-8430-B1F565B4B07E}" type="presParOf" srcId="{521023E7-6F6C-4E90-8E5F-64C2BBB28788}" destId="{4A041AF7-C479-4F35-AA3D-6CF2DEFDBB52}" srcOrd="0" destOrd="0" presId="urn:microsoft.com/office/officeart/2005/8/layout/StepDownProcess"/>
    <dgm:cxn modelId="{F176D50D-C8D7-4628-A77B-D6156239B188}" type="presParOf" srcId="{521023E7-6F6C-4E90-8E5F-64C2BBB28788}" destId="{DA9A84B1-B509-4669-89E5-26F30A778570}" srcOrd="1" destOrd="0" presId="urn:microsoft.com/office/officeart/2005/8/layout/StepDownProcess"/>
    <dgm:cxn modelId="{4004317D-EED9-4D2C-BFDB-BFF6AB801A59}" type="presParOf" srcId="{521023E7-6F6C-4E90-8E5F-64C2BBB28788}" destId="{23AC89D4-F093-4839-982D-0FB4683FBA3B}" srcOrd="2" destOrd="0" presId="urn:microsoft.com/office/officeart/2005/8/layout/StepDownProcess"/>
    <dgm:cxn modelId="{1A838FCA-3AFC-49FF-97E8-F72344B373FD}" type="presParOf" srcId="{6DBB8714-DFBE-4979-902A-1A36F0F4249F}" destId="{84E766B1-3205-4E2D-99D8-3CB91C095141}" srcOrd="1" destOrd="0" presId="urn:microsoft.com/office/officeart/2005/8/layout/StepDownProcess"/>
    <dgm:cxn modelId="{299EBA97-D78E-4FA9-A8BD-2A6D4832920A}" type="presParOf" srcId="{6DBB8714-DFBE-4979-902A-1A36F0F4249F}" destId="{9A126B74-E179-4F8A-A96B-552EAA59A025}" srcOrd="2" destOrd="0" presId="urn:microsoft.com/office/officeart/2005/8/layout/StepDownProcess"/>
    <dgm:cxn modelId="{35A48B2F-8B6A-4E4C-9D28-8F4E48B42A18}" type="presParOf" srcId="{9A126B74-E179-4F8A-A96B-552EAA59A025}" destId="{587BBB2E-64E7-47DD-AC01-85E9524F3C7C}" srcOrd="0" destOrd="0" presId="urn:microsoft.com/office/officeart/2005/8/layout/StepDownProcess"/>
    <dgm:cxn modelId="{905AC1B4-EE36-4838-ACC0-C1D7E2ECC4E8}" type="presParOf" srcId="{9A126B74-E179-4F8A-A96B-552EAA59A025}" destId="{9FA50F87-7B63-44DD-A167-5E0B961710FF}" srcOrd="1" destOrd="0" presId="urn:microsoft.com/office/officeart/2005/8/layout/StepDownProcess"/>
    <dgm:cxn modelId="{6BEC134C-C908-4156-AE76-65F4868E6D92}" type="presParOf" srcId="{9A126B74-E179-4F8A-A96B-552EAA59A025}" destId="{14C6706B-6634-4075-BC4B-262759AD6AAA}" srcOrd="2" destOrd="0" presId="urn:microsoft.com/office/officeart/2005/8/layout/StepDownProcess"/>
    <dgm:cxn modelId="{B913C552-B868-49F5-87B3-E26EC368C860}" type="presParOf" srcId="{6DBB8714-DFBE-4979-902A-1A36F0F4249F}" destId="{CD267A53-7394-4093-A8CA-9CE50712AC80}" srcOrd="3" destOrd="0" presId="urn:microsoft.com/office/officeart/2005/8/layout/StepDownProcess"/>
    <dgm:cxn modelId="{A6A9D2B8-C078-4DAD-B6E4-FFE7E8D90A74}" type="presParOf" srcId="{6DBB8714-DFBE-4979-902A-1A36F0F4249F}" destId="{1FA2C4B2-9ED7-4F7A-84D1-93D4B58B5461}" srcOrd="4" destOrd="0" presId="urn:microsoft.com/office/officeart/2005/8/layout/StepDownProcess"/>
    <dgm:cxn modelId="{ABD6C6E9-1C5F-4D32-AC7D-9F1C4EFC4CF6}" type="presParOf" srcId="{1FA2C4B2-9ED7-4F7A-84D1-93D4B58B5461}" destId="{620EA9F5-C645-4755-90FF-18037D95ACEC}" srcOrd="0" destOrd="0" presId="urn:microsoft.com/office/officeart/2005/8/layout/StepDownProcess"/>
    <dgm:cxn modelId="{1DE3185A-3435-443D-847A-686E39D8239C}" type="presParOf" srcId="{1FA2C4B2-9ED7-4F7A-84D1-93D4B58B5461}" destId="{6E1BED1A-5F8E-4194-8B1D-90A2EA66B7DB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41AF7-C479-4F35-AA3D-6CF2DEFDBB52}">
      <dsp:nvSpPr>
        <dsp:cNvPr id="0" name=""/>
        <dsp:cNvSpPr/>
      </dsp:nvSpPr>
      <dsp:spPr>
        <a:xfrm rot="5400000">
          <a:off x="878014" y="2615806"/>
          <a:ext cx="1186588" cy="136100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A84B1-B509-4669-89E5-26F30A778570}">
      <dsp:nvSpPr>
        <dsp:cNvPr id="0" name=""/>
        <dsp:cNvSpPr/>
      </dsp:nvSpPr>
      <dsp:spPr>
        <a:xfrm>
          <a:off x="372938" y="1273863"/>
          <a:ext cx="2077203" cy="124681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01.</a:t>
          </a:r>
        </a:p>
      </dsp:txBody>
      <dsp:txXfrm>
        <a:off x="433813" y="1334738"/>
        <a:ext cx="1955453" cy="1125062"/>
      </dsp:txXfrm>
    </dsp:sp>
    <dsp:sp modelId="{23AC89D4-F093-4839-982D-0FB4683FBA3B}">
      <dsp:nvSpPr>
        <dsp:cNvPr id="0" name=""/>
        <dsp:cNvSpPr/>
      </dsp:nvSpPr>
      <dsp:spPr>
        <a:xfrm>
          <a:off x="2629125" y="1267719"/>
          <a:ext cx="9150842" cy="1341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>
              <a:solidFill>
                <a:schemeClr val="tx2">
                  <a:lumMod val="50000"/>
                </a:schemeClr>
              </a:solidFill>
              <a:latin typeface="Aileron" panose="020B0604020202020204" charset="0"/>
            </a:rPr>
            <a:t>Higher clean water = Lower Mortality</a:t>
          </a:r>
          <a:endParaRPr lang="en-US" sz="2800" kern="1200" dirty="0">
            <a:solidFill>
              <a:schemeClr val="tx2">
                <a:lumMod val="50000"/>
              </a:schemeClr>
            </a:solidFill>
            <a:latin typeface="Aileron" panose="020B0604020202020204" charset="0"/>
          </a:endParaRPr>
        </a:p>
      </dsp:txBody>
      <dsp:txXfrm>
        <a:off x="2629125" y="1267719"/>
        <a:ext cx="9150842" cy="1341759"/>
      </dsp:txXfrm>
    </dsp:sp>
    <dsp:sp modelId="{587BBB2E-64E7-47DD-AC01-85E9524F3C7C}">
      <dsp:nvSpPr>
        <dsp:cNvPr id="0" name=""/>
        <dsp:cNvSpPr/>
      </dsp:nvSpPr>
      <dsp:spPr>
        <a:xfrm rot="5400000">
          <a:off x="3004218" y="4120478"/>
          <a:ext cx="1215286" cy="173732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A50F87-7B63-44DD-A167-5E0B961710FF}">
      <dsp:nvSpPr>
        <dsp:cNvPr id="0" name=""/>
        <dsp:cNvSpPr/>
      </dsp:nvSpPr>
      <dsp:spPr>
        <a:xfrm>
          <a:off x="2133595" y="3169227"/>
          <a:ext cx="2214594" cy="118060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02.</a:t>
          </a:r>
        </a:p>
      </dsp:txBody>
      <dsp:txXfrm>
        <a:off x="2191238" y="3226870"/>
        <a:ext cx="2099308" cy="1065321"/>
      </dsp:txXfrm>
    </dsp:sp>
    <dsp:sp modelId="{14C6706B-6634-4075-BC4B-262759AD6AAA}">
      <dsp:nvSpPr>
        <dsp:cNvPr id="0" name=""/>
        <dsp:cNvSpPr/>
      </dsp:nvSpPr>
      <dsp:spPr>
        <a:xfrm>
          <a:off x="4538410" y="2985502"/>
          <a:ext cx="8326189" cy="1770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>
              <a:solidFill>
                <a:schemeClr val="tx2">
                  <a:lumMod val="50000"/>
                </a:schemeClr>
              </a:solidFill>
              <a:latin typeface="Aileron" panose="020B0604020202020204" charset="0"/>
            </a:rPr>
            <a:t>Sub-Saharan Africa has the lowest access to water, sanitation, and hygiene </a:t>
          </a:r>
          <a:endParaRPr lang="en-US" sz="2800" kern="1200" dirty="0">
            <a:solidFill>
              <a:schemeClr val="tx2">
                <a:lumMod val="50000"/>
              </a:schemeClr>
            </a:solidFill>
            <a:latin typeface="Aileron" panose="020B0604020202020204" charset="0"/>
          </a:endParaRPr>
        </a:p>
      </dsp:txBody>
      <dsp:txXfrm>
        <a:off x="4538410" y="2985502"/>
        <a:ext cx="8326189" cy="1770452"/>
      </dsp:txXfrm>
    </dsp:sp>
    <dsp:sp modelId="{620EA9F5-C645-4755-90FF-18037D95ACEC}">
      <dsp:nvSpPr>
        <dsp:cNvPr id="0" name=""/>
        <dsp:cNvSpPr/>
      </dsp:nvSpPr>
      <dsp:spPr>
        <a:xfrm>
          <a:off x="4572003" y="4831775"/>
          <a:ext cx="2079812" cy="130209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03.</a:t>
          </a:r>
        </a:p>
      </dsp:txBody>
      <dsp:txXfrm>
        <a:off x="4635577" y="4895349"/>
        <a:ext cx="1952664" cy="1174945"/>
      </dsp:txXfrm>
    </dsp:sp>
    <dsp:sp modelId="{6E1BED1A-5F8E-4194-8B1D-90A2EA66B7DB}">
      <dsp:nvSpPr>
        <dsp:cNvPr id="0" name=""/>
        <dsp:cNvSpPr/>
      </dsp:nvSpPr>
      <dsp:spPr>
        <a:xfrm>
          <a:off x="6858004" y="4876793"/>
          <a:ext cx="7660436" cy="1341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>
              <a:solidFill>
                <a:schemeClr val="tx2">
                  <a:lumMod val="50000"/>
                </a:schemeClr>
              </a:solidFill>
              <a:latin typeface="Aileron" panose="020B0604020202020204" charset="0"/>
            </a:rPr>
            <a:t>Countries with strong water infrastructure = Low Mortality</a:t>
          </a:r>
          <a:endParaRPr lang="en-US" sz="2800" kern="1200" dirty="0">
            <a:solidFill>
              <a:schemeClr val="tx2">
                <a:lumMod val="50000"/>
              </a:schemeClr>
            </a:solidFill>
            <a:latin typeface="Aileron" panose="020B0604020202020204" charset="0"/>
          </a:endParaRPr>
        </a:p>
      </dsp:txBody>
      <dsp:txXfrm>
        <a:off x="6858004" y="4876793"/>
        <a:ext cx="7660436" cy="13417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2.svg"/><Relationship Id="rId7" Type="http://schemas.openxmlformats.org/officeDocument/2006/relationships/image" Target="../media/image5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image" Target="../media/image3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69396" y="2719229"/>
            <a:ext cx="2544433" cy="2544433"/>
          </a:xfrm>
          <a:custGeom>
            <a:avLst/>
            <a:gdLst/>
            <a:ahLst/>
            <a:cxnLst/>
            <a:rect l="l" t="t" r="r" b="b"/>
            <a:pathLst>
              <a:path w="2544433" h="2544433">
                <a:moveTo>
                  <a:pt x="0" y="0"/>
                </a:moveTo>
                <a:lnTo>
                  <a:pt x="2544432" y="0"/>
                </a:lnTo>
                <a:lnTo>
                  <a:pt x="2544432" y="2544433"/>
                </a:lnTo>
                <a:lnTo>
                  <a:pt x="0" y="2544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098615" y="3307946"/>
            <a:ext cx="11071218" cy="5950354"/>
            <a:chOff x="-1270" y="0"/>
            <a:chExt cx="5373370" cy="2887980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5373370" cy="2887980"/>
            </a:xfrm>
            <a:custGeom>
              <a:avLst/>
              <a:gdLst/>
              <a:ahLst/>
              <a:cxnLst/>
              <a:rect l="l" t="t" r="r" b="b"/>
              <a:pathLst>
                <a:path w="5373370" h="2887980">
                  <a:moveTo>
                    <a:pt x="0" y="621030"/>
                  </a:moveTo>
                  <a:cubicBezTo>
                    <a:pt x="0" y="963930"/>
                    <a:pt x="278130" y="1242060"/>
                    <a:pt x="621030" y="1242060"/>
                  </a:cubicBezTo>
                  <a:lnTo>
                    <a:pt x="1744980" y="1242060"/>
                  </a:lnTo>
                  <a:cubicBezTo>
                    <a:pt x="1770380" y="1242060"/>
                    <a:pt x="1790700" y="1263650"/>
                    <a:pt x="1790700" y="1289050"/>
                  </a:cubicBezTo>
                  <a:cubicBezTo>
                    <a:pt x="1790700" y="1380490"/>
                    <a:pt x="1811020" y="1466850"/>
                    <a:pt x="1845310" y="1545590"/>
                  </a:cubicBezTo>
                  <a:cubicBezTo>
                    <a:pt x="1866900" y="1592580"/>
                    <a:pt x="1832610" y="1645920"/>
                    <a:pt x="1780540" y="1645920"/>
                  </a:cubicBezTo>
                  <a:cubicBezTo>
                    <a:pt x="1437640" y="1645920"/>
                    <a:pt x="1159510" y="1924050"/>
                    <a:pt x="1159510" y="2266950"/>
                  </a:cubicBezTo>
                  <a:cubicBezTo>
                    <a:pt x="1159510" y="2609850"/>
                    <a:pt x="1437640" y="2887980"/>
                    <a:pt x="1780540" y="2887980"/>
                  </a:cubicBezTo>
                  <a:lnTo>
                    <a:pt x="4121150" y="2887980"/>
                  </a:lnTo>
                  <a:cubicBezTo>
                    <a:pt x="4464050" y="2887980"/>
                    <a:pt x="4742180" y="2609850"/>
                    <a:pt x="4742180" y="2266950"/>
                  </a:cubicBezTo>
                  <a:cubicBezTo>
                    <a:pt x="4742180" y="2175510"/>
                    <a:pt x="4721860" y="2089150"/>
                    <a:pt x="4687570" y="2010410"/>
                  </a:cubicBezTo>
                  <a:cubicBezTo>
                    <a:pt x="4665980" y="1963420"/>
                    <a:pt x="4700270" y="1910080"/>
                    <a:pt x="4752340" y="1910080"/>
                  </a:cubicBezTo>
                  <a:cubicBezTo>
                    <a:pt x="5095240" y="1910080"/>
                    <a:pt x="5373370" y="1631950"/>
                    <a:pt x="5373370" y="1289050"/>
                  </a:cubicBezTo>
                  <a:cubicBezTo>
                    <a:pt x="5373370" y="946150"/>
                    <a:pt x="5095240" y="668020"/>
                    <a:pt x="4752340" y="668020"/>
                  </a:cubicBezTo>
                  <a:lnTo>
                    <a:pt x="3628390" y="668020"/>
                  </a:lnTo>
                  <a:cubicBezTo>
                    <a:pt x="3602990" y="668020"/>
                    <a:pt x="3582670" y="647700"/>
                    <a:pt x="3582670" y="622300"/>
                  </a:cubicBezTo>
                  <a:lnTo>
                    <a:pt x="3582670" y="621030"/>
                  </a:lnTo>
                  <a:cubicBezTo>
                    <a:pt x="3582670" y="278130"/>
                    <a:pt x="3304540" y="0"/>
                    <a:pt x="2961640" y="0"/>
                  </a:cubicBezTo>
                  <a:lnTo>
                    <a:pt x="622300" y="0"/>
                  </a:lnTo>
                  <a:cubicBezTo>
                    <a:pt x="278130" y="0"/>
                    <a:pt x="0" y="278130"/>
                    <a:pt x="0" y="621030"/>
                  </a:cubicBezTo>
                  <a:close/>
                </a:path>
              </a:pathLst>
            </a:custGeom>
            <a:blipFill>
              <a:blip r:embed="rId4"/>
              <a:stretch>
                <a:fillRect t="-25821" b="-137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136521" y="3307946"/>
            <a:ext cx="2594369" cy="4588246"/>
            <a:chOff x="0" y="0"/>
            <a:chExt cx="683291" cy="12084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3291" cy="1208427"/>
            </a:xfrm>
            <a:custGeom>
              <a:avLst/>
              <a:gdLst/>
              <a:ahLst/>
              <a:cxnLst/>
              <a:rect l="l" t="t" r="r" b="b"/>
              <a:pathLst>
                <a:path w="683291" h="1208427">
                  <a:moveTo>
                    <a:pt x="152190" y="0"/>
                  </a:moveTo>
                  <a:lnTo>
                    <a:pt x="531100" y="0"/>
                  </a:lnTo>
                  <a:cubicBezTo>
                    <a:pt x="571464" y="0"/>
                    <a:pt x="610174" y="16034"/>
                    <a:pt x="638715" y="44576"/>
                  </a:cubicBezTo>
                  <a:cubicBezTo>
                    <a:pt x="667256" y="73117"/>
                    <a:pt x="683291" y="111827"/>
                    <a:pt x="683291" y="152190"/>
                  </a:cubicBezTo>
                  <a:lnTo>
                    <a:pt x="683291" y="1056237"/>
                  </a:lnTo>
                  <a:cubicBezTo>
                    <a:pt x="683291" y="1096600"/>
                    <a:pt x="667256" y="1135310"/>
                    <a:pt x="638715" y="1163852"/>
                  </a:cubicBezTo>
                  <a:cubicBezTo>
                    <a:pt x="610174" y="1192393"/>
                    <a:pt x="571464" y="1208427"/>
                    <a:pt x="531100" y="1208427"/>
                  </a:cubicBezTo>
                  <a:lnTo>
                    <a:pt x="152190" y="1208427"/>
                  </a:lnTo>
                  <a:cubicBezTo>
                    <a:pt x="111827" y="1208427"/>
                    <a:pt x="73117" y="1192393"/>
                    <a:pt x="44576" y="1163852"/>
                  </a:cubicBezTo>
                  <a:cubicBezTo>
                    <a:pt x="16034" y="1135310"/>
                    <a:pt x="0" y="1096600"/>
                    <a:pt x="0" y="1056237"/>
                  </a:cubicBezTo>
                  <a:lnTo>
                    <a:pt x="0" y="152190"/>
                  </a:lnTo>
                  <a:cubicBezTo>
                    <a:pt x="0" y="111827"/>
                    <a:pt x="16034" y="73117"/>
                    <a:pt x="44576" y="44576"/>
                  </a:cubicBezTo>
                  <a:cubicBezTo>
                    <a:pt x="73117" y="16034"/>
                    <a:pt x="111827" y="0"/>
                    <a:pt x="152190" y="0"/>
                  </a:cubicBezTo>
                  <a:close/>
                </a:path>
              </a:pathLst>
            </a:custGeom>
            <a:solidFill>
              <a:srgbClr val="518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83291" cy="1256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469396" y="1259637"/>
            <a:ext cx="3789904" cy="665701"/>
            <a:chOff x="0" y="0"/>
            <a:chExt cx="998164" cy="1753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98164" cy="175329"/>
            </a:xfrm>
            <a:custGeom>
              <a:avLst/>
              <a:gdLst/>
              <a:ahLst/>
              <a:cxnLst/>
              <a:rect l="l" t="t" r="r" b="b"/>
              <a:pathLst>
                <a:path w="998164" h="175329">
                  <a:moveTo>
                    <a:pt x="87664" y="0"/>
                  </a:moveTo>
                  <a:lnTo>
                    <a:pt x="910500" y="0"/>
                  </a:lnTo>
                  <a:cubicBezTo>
                    <a:pt x="958915" y="0"/>
                    <a:pt x="998164" y="39249"/>
                    <a:pt x="998164" y="87664"/>
                  </a:cubicBezTo>
                  <a:lnTo>
                    <a:pt x="998164" y="87664"/>
                  </a:lnTo>
                  <a:cubicBezTo>
                    <a:pt x="998164" y="110914"/>
                    <a:pt x="988928" y="133212"/>
                    <a:pt x="972488" y="149652"/>
                  </a:cubicBezTo>
                  <a:cubicBezTo>
                    <a:pt x="956048" y="166093"/>
                    <a:pt x="933750" y="175329"/>
                    <a:pt x="910500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3A577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98164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-2522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1958605" y="3307946"/>
            <a:ext cx="1025128" cy="1025128"/>
          </a:xfrm>
          <a:custGeom>
            <a:avLst/>
            <a:gdLst/>
            <a:ahLst/>
            <a:cxnLst/>
            <a:rect l="l" t="t" r="r" b="b"/>
            <a:pathLst>
              <a:path w="1025128" h="1025128">
                <a:moveTo>
                  <a:pt x="0" y="0"/>
                </a:moveTo>
                <a:lnTo>
                  <a:pt x="1025127" y="0"/>
                </a:lnTo>
                <a:lnTo>
                  <a:pt x="1025127" y="1025127"/>
                </a:lnTo>
                <a:lnTo>
                  <a:pt x="0" y="1025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988815" y="2212780"/>
            <a:ext cx="11709979" cy="232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2"/>
              </a:lnSpc>
            </a:pPr>
            <a:r>
              <a:rPr lang="en-US" sz="8701" b="1" dirty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FLOW OF LIFE: LINK BETWEEN WATER &amp; HEALTH </a:t>
            </a:r>
          </a:p>
        </p:txBody>
      </p:sp>
      <p:sp>
        <p:nvSpPr>
          <p:cNvPr id="13" name="Freeform 13"/>
          <p:cNvSpPr/>
          <p:nvPr/>
        </p:nvSpPr>
        <p:spPr>
          <a:xfrm>
            <a:off x="7843805" y="824861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2769424" y="2436835"/>
            <a:ext cx="806841" cy="564789"/>
          </a:xfrm>
          <a:custGeom>
            <a:avLst/>
            <a:gdLst/>
            <a:ahLst/>
            <a:cxnLst/>
            <a:rect l="l" t="t" r="r" b="b"/>
            <a:pathLst>
              <a:path w="806841" h="564789">
                <a:moveTo>
                  <a:pt x="0" y="0"/>
                </a:moveTo>
                <a:lnTo>
                  <a:pt x="806840" y="0"/>
                </a:lnTo>
                <a:lnTo>
                  <a:pt x="806840" y="564788"/>
                </a:lnTo>
                <a:lnTo>
                  <a:pt x="0" y="5647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2660457" y="5871221"/>
            <a:ext cx="5430998" cy="150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sz="2969" b="1" dirty="0">
                <a:solidFill>
                  <a:srgbClr val="021828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Piyara Perera </a:t>
            </a:r>
          </a:p>
          <a:p>
            <a:pPr algn="l">
              <a:lnSpc>
                <a:spcPts val="3890"/>
              </a:lnSpc>
            </a:pPr>
            <a:r>
              <a:rPr lang="en-US" sz="2969" b="1" dirty="0">
                <a:solidFill>
                  <a:srgbClr val="021828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Sajini Udawela </a:t>
            </a:r>
          </a:p>
          <a:p>
            <a:pPr algn="l">
              <a:lnSpc>
                <a:spcPts val="3890"/>
              </a:lnSpc>
            </a:pPr>
            <a:r>
              <a:rPr lang="en-US" sz="2969" b="1" dirty="0">
                <a:solidFill>
                  <a:srgbClr val="021828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Maleesha Nissanka </a:t>
            </a:r>
          </a:p>
        </p:txBody>
      </p:sp>
      <p:sp>
        <p:nvSpPr>
          <p:cNvPr id="17" name="Freeform 17"/>
          <p:cNvSpPr/>
          <p:nvPr/>
        </p:nvSpPr>
        <p:spPr>
          <a:xfrm>
            <a:off x="2412807" y="8799767"/>
            <a:ext cx="1483489" cy="458533"/>
          </a:xfrm>
          <a:custGeom>
            <a:avLst/>
            <a:gdLst/>
            <a:ahLst/>
            <a:cxnLst/>
            <a:rect l="l" t="t" r="r" b="b"/>
            <a:pathLst>
              <a:path w="1483489" h="458533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11137" y="4149259"/>
            <a:ext cx="5650143" cy="6425902"/>
            <a:chOff x="0" y="0"/>
            <a:chExt cx="1488104" cy="1692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8104" cy="1692419"/>
            </a:xfrm>
            <a:custGeom>
              <a:avLst/>
              <a:gdLst/>
              <a:ahLst/>
              <a:cxnLst/>
              <a:rect l="l" t="t" r="r" b="b"/>
              <a:pathLst>
                <a:path w="1488104" h="1692419">
                  <a:moveTo>
                    <a:pt x="0" y="0"/>
                  </a:moveTo>
                  <a:lnTo>
                    <a:pt x="1488104" y="0"/>
                  </a:lnTo>
                  <a:lnTo>
                    <a:pt x="1488104" y="1692419"/>
                  </a:lnTo>
                  <a:lnTo>
                    <a:pt x="0" y="1692419"/>
                  </a:lnTo>
                  <a:close/>
                </a:path>
              </a:pathLst>
            </a:custGeom>
            <a:solidFill>
              <a:srgbClr val="E1EDF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488104" cy="1740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83000" y="2365200"/>
            <a:ext cx="3076459" cy="3076459"/>
          </a:xfrm>
          <a:custGeom>
            <a:avLst/>
            <a:gdLst/>
            <a:ahLst/>
            <a:cxnLst/>
            <a:rect l="l" t="t" r="r" b="b"/>
            <a:pathLst>
              <a:path w="3076459" h="3076459">
                <a:moveTo>
                  <a:pt x="0" y="0"/>
                </a:moveTo>
                <a:lnTo>
                  <a:pt x="3076459" y="0"/>
                </a:lnTo>
                <a:lnTo>
                  <a:pt x="3076459" y="3076459"/>
                </a:lnTo>
                <a:lnTo>
                  <a:pt x="0" y="3076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7526000" y="1719426"/>
            <a:ext cx="1291547" cy="1291547"/>
          </a:xfrm>
          <a:custGeom>
            <a:avLst/>
            <a:gdLst/>
            <a:ahLst/>
            <a:cxnLst/>
            <a:rect l="l" t="t" r="r" b="b"/>
            <a:pathLst>
              <a:path w="1291547" h="1291547">
                <a:moveTo>
                  <a:pt x="0" y="0"/>
                </a:moveTo>
                <a:lnTo>
                  <a:pt x="1291548" y="0"/>
                </a:lnTo>
                <a:lnTo>
                  <a:pt x="1291548" y="1291547"/>
                </a:lnTo>
                <a:lnTo>
                  <a:pt x="0" y="129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578251" y="9813870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0" y="0"/>
                </a:moveTo>
                <a:lnTo>
                  <a:pt x="1519327" y="0"/>
                </a:lnTo>
                <a:lnTo>
                  <a:pt x="1519327" y="469611"/>
                </a:lnTo>
                <a:lnTo>
                  <a:pt x="0" y="4696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578252" y="9817390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0" y="0"/>
                </a:moveTo>
                <a:lnTo>
                  <a:pt x="1519328" y="0"/>
                </a:lnTo>
                <a:lnTo>
                  <a:pt x="1519328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99203" y="3108353"/>
            <a:ext cx="11695736" cy="6816380"/>
          </a:xfrm>
          <a:custGeom>
            <a:avLst/>
            <a:gdLst/>
            <a:ahLst/>
            <a:cxnLst/>
            <a:rect l="l" t="t" r="r" b="b"/>
            <a:pathLst>
              <a:path w="12132995" h="8258317">
                <a:moveTo>
                  <a:pt x="0" y="0"/>
                </a:moveTo>
                <a:lnTo>
                  <a:pt x="12132995" y="0"/>
                </a:lnTo>
                <a:lnTo>
                  <a:pt x="12132995" y="8258317"/>
                </a:lnTo>
                <a:lnTo>
                  <a:pt x="0" y="82583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362267"/>
            <a:ext cx="6954398" cy="1161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4"/>
              </a:lnSpc>
              <a:spcBef>
                <a:spcPct val="0"/>
              </a:spcBef>
            </a:pPr>
            <a:r>
              <a:rPr lang="en-US" sz="6499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About the Data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08F58D-91A6-4B51-6712-FAF0EAC5DE21}"/>
              </a:ext>
            </a:extLst>
          </p:cNvPr>
          <p:cNvSpPr txBox="1"/>
          <p:nvPr/>
        </p:nvSpPr>
        <p:spPr>
          <a:xfrm>
            <a:off x="999203" y="1523682"/>
            <a:ext cx="150983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Aileron" panose="020B0604020202020204" charset="0"/>
              </a:rPr>
              <a:t>Water &amp; sanitation access (SDG 6) directly influences disease spread and mortality, especially among children under five (SDG 3). </a:t>
            </a:r>
          </a:p>
          <a:p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Aileron" panose="020B0604020202020204" charset="0"/>
              </a:rPr>
              <a:t>We explore this relationship.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ame 18">
            <a:extLst>
              <a:ext uri="{FF2B5EF4-FFF2-40B4-BE49-F238E27FC236}">
                <a16:creationId xmlns:a16="http://schemas.microsoft.com/office/drawing/2014/main" id="{CD4A4B46-EC1B-D57D-E3C4-EFB5D1964439}"/>
              </a:ext>
            </a:extLst>
          </p:cNvPr>
          <p:cNvSpPr/>
          <p:nvPr/>
        </p:nvSpPr>
        <p:spPr>
          <a:xfrm>
            <a:off x="381000" y="305603"/>
            <a:ext cx="17526000" cy="9603061"/>
          </a:xfrm>
          <a:prstGeom prst="frame">
            <a:avLst>
              <a:gd name="adj1" fmla="val 251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6590B-51BD-E08A-4F95-B5B48C27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814" r="1250" b="11481"/>
          <a:stretch>
            <a:fillRect/>
          </a:stretch>
        </p:blipFill>
        <p:spPr>
          <a:xfrm>
            <a:off x="380999" y="326497"/>
            <a:ext cx="11226807" cy="40738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3B6997-6491-8BB1-9542-555525F712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0" t="22592" r="58750" b="10000"/>
          <a:stretch>
            <a:fillRect/>
          </a:stretch>
        </p:blipFill>
        <p:spPr>
          <a:xfrm>
            <a:off x="11922281" y="2857501"/>
            <a:ext cx="5960138" cy="58319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2963E0-34D6-33A8-FA67-4BF084932B56}"/>
              </a:ext>
            </a:extLst>
          </p:cNvPr>
          <p:cNvSpPr txBox="1"/>
          <p:nvPr/>
        </p:nvSpPr>
        <p:spPr>
          <a:xfrm>
            <a:off x="9456685" y="6412802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Aileron" panose="020B0604020202020204" charset="0"/>
              </a:rPr>
              <a:t>Cleaned</a:t>
            </a:r>
            <a:endParaRPr lang="en-US" dirty="0">
              <a:solidFill>
                <a:schemeClr val="tx2">
                  <a:lumMod val="50000"/>
                </a:schemeClr>
              </a:solidFill>
              <a:latin typeface="Aileron" panose="020B0604020202020204" charset="0"/>
            </a:endParaRPr>
          </a:p>
        </p:txBody>
      </p:sp>
      <p:sp>
        <p:nvSpPr>
          <p:cNvPr id="17" name="Arrow: Bent-Up 16">
            <a:extLst>
              <a:ext uri="{FF2B5EF4-FFF2-40B4-BE49-F238E27FC236}">
                <a16:creationId xmlns:a16="http://schemas.microsoft.com/office/drawing/2014/main" id="{80BFD765-392B-8630-3761-27D0D3096E41}"/>
              </a:ext>
            </a:extLst>
          </p:cNvPr>
          <p:cNvSpPr/>
          <p:nvPr/>
        </p:nvSpPr>
        <p:spPr>
          <a:xfrm rot="5400000">
            <a:off x="8668716" y="4780586"/>
            <a:ext cx="3310977" cy="2970010"/>
          </a:xfrm>
          <a:prstGeom prst="bentUpArrow">
            <a:avLst>
              <a:gd name="adj1" fmla="val 13185"/>
              <a:gd name="adj2" fmla="val 16338"/>
              <a:gd name="adj3" fmla="val 19788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12E424-E81F-251A-C520-F5687B0C8ADE}"/>
              </a:ext>
            </a:extLst>
          </p:cNvPr>
          <p:cNvSpPr txBox="1"/>
          <p:nvPr/>
        </p:nvSpPr>
        <p:spPr>
          <a:xfrm>
            <a:off x="838200" y="9044160"/>
            <a:ext cx="14249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ileron" panose="020B0604020202020204" charset="0"/>
              </a:rPr>
              <a:t>Finally, we merged the four cleaned tables using Country and Year to create the final merged dataset.</a:t>
            </a:r>
          </a:p>
        </p:txBody>
      </p:sp>
    </p:spTree>
    <p:extLst>
      <p:ext uri="{BB962C8B-B14F-4D97-AF65-F5344CB8AC3E}">
        <p14:creationId xmlns:p14="http://schemas.microsoft.com/office/powerpoint/2010/main" val="678765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538A3D-B3D1-C8CC-010C-8251C956D4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0" t="19629" r="23333" b="1370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2855" y="2787127"/>
            <a:ext cx="9106756" cy="4712746"/>
          </a:xfrm>
          <a:custGeom>
            <a:avLst/>
            <a:gdLst/>
            <a:ahLst/>
            <a:cxnLst/>
            <a:rect l="l" t="t" r="r" b="b"/>
            <a:pathLst>
              <a:path w="9106756" h="4712746">
                <a:moveTo>
                  <a:pt x="0" y="0"/>
                </a:moveTo>
                <a:lnTo>
                  <a:pt x="9106756" y="0"/>
                </a:lnTo>
                <a:lnTo>
                  <a:pt x="9106756" y="4712746"/>
                </a:lnTo>
                <a:lnTo>
                  <a:pt x="0" y="4712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5606233" y="904875"/>
            <a:ext cx="7075535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5"/>
              </a:lnSpc>
            </a:pP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Design Process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58600" y="3467100"/>
            <a:ext cx="6370106" cy="358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0"/>
              </a:lnSpc>
              <a:spcBef>
                <a:spcPct val="0"/>
              </a:spcBef>
            </a:pPr>
            <a:r>
              <a:rPr lang="en-US" sz="2928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Design Goals</a:t>
            </a:r>
          </a:p>
          <a:p>
            <a:pPr algn="l">
              <a:lnSpc>
                <a:spcPts val="3280"/>
              </a:lnSpc>
              <a:spcBef>
                <a:spcPct val="0"/>
              </a:spcBef>
            </a:pPr>
            <a:endParaRPr lang="en-US" sz="2928" b="1" dirty="0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556471" lvl="1" indent="-278235" algn="l">
              <a:lnSpc>
                <a:spcPts val="3608"/>
              </a:lnSpc>
              <a:buFont typeface="Arial"/>
              <a:buChar char="•"/>
            </a:pPr>
            <a:r>
              <a:rPr lang="en-US" sz="2577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Easy to understand</a:t>
            </a:r>
          </a:p>
          <a:p>
            <a:pPr marL="556471" lvl="1" indent="-278235" algn="l">
              <a:lnSpc>
                <a:spcPts val="3608"/>
              </a:lnSpc>
              <a:buFont typeface="Arial"/>
              <a:buChar char="•"/>
            </a:pPr>
            <a:r>
              <a:rPr lang="en-US" sz="2577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Show clear comparisons</a:t>
            </a:r>
          </a:p>
          <a:p>
            <a:pPr marL="556471" lvl="1" indent="-278235" algn="l">
              <a:lnSpc>
                <a:spcPts val="3608"/>
              </a:lnSpc>
              <a:buFont typeface="Arial"/>
              <a:buChar char="•"/>
            </a:pPr>
            <a:r>
              <a:rPr lang="en-US" sz="2577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Highlight link between water &amp; health</a:t>
            </a:r>
          </a:p>
          <a:p>
            <a:pPr marL="556471" lvl="1" indent="-278235" algn="l">
              <a:lnSpc>
                <a:spcPts val="3608"/>
              </a:lnSpc>
              <a:buFont typeface="Arial"/>
              <a:buChar char="•"/>
            </a:pPr>
            <a:r>
              <a:rPr lang="en-US" sz="2577" b="1" dirty="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Keep layout neat and simple</a:t>
            </a:r>
          </a:p>
          <a:p>
            <a:pPr algn="l">
              <a:lnSpc>
                <a:spcPts val="3280"/>
              </a:lnSpc>
              <a:spcBef>
                <a:spcPct val="0"/>
              </a:spcBef>
            </a:pPr>
            <a:endParaRPr lang="en-US" sz="2577" b="1" dirty="0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l">
              <a:lnSpc>
                <a:spcPts val="3280"/>
              </a:lnSpc>
              <a:spcBef>
                <a:spcPct val="0"/>
              </a:spcBef>
            </a:pPr>
            <a:endParaRPr lang="en-US" sz="2577" b="1" dirty="0">
              <a:solidFill>
                <a:srgbClr val="0E2F5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D9D831-5028-95B6-CC15-1138018E7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0" y="7962900"/>
            <a:ext cx="3886379" cy="3886379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51E8EE50-8308-AB08-98B3-7D04D499FB2A}"/>
              </a:ext>
            </a:extLst>
          </p:cNvPr>
          <p:cNvSpPr/>
          <p:nvPr/>
        </p:nvSpPr>
        <p:spPr>
          <a:xfrm>
            <a:off x="419189" y="495300"/>
            <a:ext cx="17487811" cy="9372600"/>
          </a:xfrm>
          <a:prstGeom prst="frame">
            <a:avLst>
              <a:gd name="adj1" fmla="val 293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BA11-7C50-1D56-561E-D0C30A41C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0" y="-1328030"/>
            <a:ext cx="4115157" cy="41151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21C9A2-1561-F8FD-C7FE-8D45026AE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7580" y="1887992"/>
            <a:ext cx="2216220" cy="22162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9502E7-C719-2320-8E7D-7B7A7A96D251}"/>
              </a:ext>
            </a:extLst>
          </p:cNvPr>
          <p:cNvSpPr txBox="1"/>
          <p:nvPr/>
        </p:nvSpPr>
        <p:spPr>
          <a:xfrm>
            <a:off x="4495800" y="7619476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Rough Sketch 1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8283427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257300" y="-21343"/>
            <a:ext cx="15773392" cy="22497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>
                <a:solidFill>
                  <a:schemeClr val="tx2">
                    <a:lumMod val="75000"/>
                  </a:schemeClr>
                </a:solidFill>
                <a:latin typeface="Akzidenz-Grotesk Heavy" panose="020B0604020202020204" charset="0"/>
                <a:ea typeface="+mj-ea"/>
                <a:cs typeface="+mj-cs"/>
                <a:sym typeface="Akzidenz-Grotesk Heavy"/>
              </a:rPr>
              <a:t>Design Process </a:t>
            </a:r>
          </a:p>
        </p:txBody>
      </p:sp>
      <p:pic>
        <p:nvPicPr>
          <p:cNvPr id="5" name="Graphic 4" descr="Table with solid fill">
            <a:extLst>
              <a:ext uri="{FF2B5EF4-FFF2-40B4-BE49-F238E27FC236}">
                <a16:creationId xmlns:a16="http://schemas.microsoft.com/office/drawing/2014/main" id="{1D903B95-3AA1-6098-F872-4A7B3BE10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94521" y="3830797"/>
            <a:ext cx="1820931" cy="1820931"/>
          </a:xfrm>
          <a:prstGeom prst="rect">
            <a:avLst/>
          </a:prstGeom>
        </p:spPr>
      </p:pic>
      <p:pic>
        <p:nvPicPr>
          <p:cNvPr id="7" name="Graphic 6" descr="Earth Globe - Asia with solid fill">
            <a:extLst>
              <a:ext uri="{FF2B5EF4-FFF2-40B4-BE49-F238E27FC236}">
                <a16:creationId xmlns:a16="http://schemas.microsoft.com/office/drawing/2014/main" id="{16DEE26F-47B1-DB42-FD27-2B531F194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4381" y="3830797"/>
            <a:ext cx="1820931" cy="1820931"/>
          </a:xfrm>
          <a:prstGeom prst="rect">
            <a:avLst/>
          </a:prstGeom>
        </p:spPr>
      </p:pic>
      <p:pic>
        <p:nvPicPr>
          <p:cNvPr id="9" name="Graphic 8" descr="Connected with solid fill">
            <a:extLst>
              <a:ext uri="{FF2B5EF4-FFF2-40B4-BE49-F238E27FC236}">
                <a16:creationId xmlns:a16="http://schemas.microsoft.com/office/drawing/2014/main" id="{4930FD96-7895-A7CC-267B-D84C558D54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4405" y="3847561"/>
            <a:ext cx="1820931" cy="1820931"/>
          </a:xfrm>
          <a:prstGeom prst="rect">
            <a:avLst/>
          </a:prstGeom>
        </p:spPr>
      </p:pic>
      <p:pic>
        <p:nvPicPr>
          <p:cNvPr id="11" name="Graphic 10" descr="Bar chart with solid fill">
            <a:extLst>
              <a:ext uri="{FF2B5EF4-FFF2-40B4-BE49-F238E27FC236}">
                <a16:creationId xmlns:a16="http://schemas.microsoft.com/office/drawing/2014/main" id="{85E7D587-E6A2-54E3-91CA-9A18E819DA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4428" y="3916567"/>
            <a:ext cx="1820931" cy="1820931"/>
          </a:xfrm>
          <a:prstGeom prst="rect">
            <a:avLst/>
          </a:prstGeom>
        </p:spPr>
      </p:pic>
      <p:pic>
        <p:nvPicPr>
          <p:cNvPr id="13" name="Graphic 12" descr="Upward trend with solid fill">
            <a:extLst>
              <a:ext uri="{FF2B5EF4-FFF2-40B4-BE49-F238E27FC236}">
                <a16:creationId xmlns:a16="http://schemas.microsoft.com/office/drawing/2014/main" id="{72390C11-7E3F-0F9D-AA88-E55C803235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4452" y="3919451"/>
            <a:ext cx="1820931" cy="182093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483993" y="5974616"/>
            <a:ext cx="3657600" cy="2239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b="1" dirty="0">
              <a:sym typeface="Aileron Bold"/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b="1" dirty="0">
              <a:sym typeface="Aileron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6C6DCF-5131-7862-486F-62200B8152DF}"/>
              </a:ext>
            </a:extLst>
          </p:cNvPr>
          <p:cNvSpPr txBox="1"/>
          <p:nvPr/>
        </p:nvSpPr>
        <p:spPr>
          <a:xfrm>
            <a:off x="1027012" y="5977397"/>
            <a:ext cx="25908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Line chart </a:t>
            </a:r>
          </a:p>
          <a:p>
            <a:pPr algn="ctr"/>
            <a:r>
              <a:rPr lang="en-US" sz="3200" dirty="0"/>
              <a:t>shows change over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9B1C87-5C68-7713-F152-F1A513ED16B6}"/>
              </a:ext>
            </a:extLst>
          </p:cNvPr>
          <p:cNvSpPr txBox="1"/>
          <p:nvPr/>
        </p:nvSpPr>
        <p:spPr>
          <a:xfrm>
            <a:off x="3943588" y="5977396"/>
            <a:ext cx="3657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Choropleth Map</a:t>
            </a:r>
          </a:p>
          <a:p>
            <a:pPr algn="ctr"/>
            <a:r>
              <a:rPr lang="en-US" sz="3200" dirty="0"/>
              <a:t> shows differences by country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BADBA-CDE8-5C12-B402-AF8145C1606F}"/>
              </a:ext>
            </a:extLst>
          </p:cNvPr>
          <p:cNvSpPr txBox="1"/>
          <p:nvPr/>
        </p:nvSpPr>
        <p:spPr>
          <a:xfrm>
            <a:off x="7765902" y="5998688"/>
            <a:ext cx="275161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Scatter plot</a:t>
            </a:r>
          </a:p>
          <a:p>
            <a:pPr algn="ctr"/>
            <a:r>
              <a:rPr lang="en-US" sz="3200" dirty="0"/>
              <a:t>shows relationships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2665B3-2DD6-9D81-5EE9-BAE03CBA0E63}"/>
              </a:ext>
            </a:extLst>
          </p:cNvPr>
          <p:cNvSpPr txBox="1"/>
          <p:nvPr/>
        </p:nvSpPr>
        <p:spPr>
          <a:xfrm>
            <a:off x="10483993" y="6064582"/>
            <a:ext cx="3657600" cy="1949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2700" marR="0" lvl="1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ileron Bold"/>
              </a:rPr>
              <a:t>Bar chart</a:t>
            </a:r>
          </a:p>
          <a:p>
            <a:pPr marL="402700" marR="0" lvl="1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ileron Bold"/>
              </a:rPr>
              <a:t>compares top vs bottom countries</a:t>
            </a:r>
          </a:p>
          <a:p>
            <a:pPr marL="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Aileron Bol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80176B-EBF3-A9E0-B407-7A959C39BB43}"/>
              </a:ext>
            </a:extLst>
          </p:cNvPr>
          <p:cNvSpPr txBox="1"/>
          <p:nvPr/>
        </p:nvSpPr>
        <p:spPr>
          <a:xfrm>
            <a:off x="14440765" y="5977396"/>
            <a:ext cx="336343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Slicer </a:t>
            </a:r>
          </a:p>
          <a:p>
            <a:pPr algn="ctr"/>
            <a:r>
              <a:rPr lang="en-US" sz="3200" dirty="0"/>
              <a:t>interactively explore data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9852D1C-E371-E3B3-7BFD-980FA6C0CD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57593" y="-32015"/>
            <a:ext cx="3785944" cy="84741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03C522E-0CF2-631F-AEF5-F95BB8380A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64087" y="852693"/>
            <a:ext cx="3785944" cy="84741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B735869-9E93-9B38-3FAB-12C47249C4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758458" y="2071457"/>
            <a:ext cx="1630710" cy="50300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1D3AEF5-EC24-49AC-67D4-7307E99C49A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0800000">
            <a:off x="-239418" y="9758136"/>
            <a:ext cx="1633870" cy="4999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0EB0903-80F9-DDE9-219A-337B86A8EC5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-938236" y="938865"/>
            <a:ext cx="2761727" cy="88399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6B29AAF-EB57-A96F-031B-2940EF6F9A8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13588" y="410694"/>
            <a:ext cx="2761727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5083738" y="4900126"/>
            <a:ext cx="9299815" cy="0"/>
          </a:xfrm>
          <a:prstGeom prst="line">
            <a:avLst/>
          </a:prstGeom>
          <a:ln w="38100" cap="flat">
            <a:solidFill>
              <a:srgbClr val="5188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044420" y="4378450"/>
            <a:ext cx="1043351" cy="104335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2F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92311" y="4378450"/>
            <a:ext cx="1043351" cy="104335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2F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340202" y="4378450"/>
            <a:ext cx="1043351" cy="104335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2F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94817" y="2782372"/>
            <a:ext cx="3353620" cy="5894830"/>
            <a:chOff x="0" y="0"/>
            <a:chExt cx="883258" cy="15525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83258" cy="1552548"/>
            </a:xfrm>
            <a:custGeom>
              <a:avLst/>
              <a:gdLst/>
              <a:ahLst/>
              <a:cxnLst/>
              <a:rect l="l" t="t" r="r" b="b"/>
              <a:pathLst>
                <a:path w="883258" h="155254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1416345"/>
                  </a:lnTo>
                  <a:cubicBezTo>
                    <a:pt x="883258" y="1452468"/>
                    <a:pt x="868908" y="1487112"/>
                    <a:pt x="843365" y="1512655"/>
                  </a:cubicBezTo>
                  <a:cubicBezTo>
                    <a:pt x="817822" y="1538198"/>
                    <a:pt x="783178" y="1552548"/>
                    <a:pt x="747055" y="1552548"/>
                  </a:cubicBezTo>
                  <a:lnTo>
                    <a:pt x="136203" y="1552548"/>
                  </a:lnTo>
                  <a:cubicBezTo>
                    <a:pt x="100080" y="1552548"/>
                    <a:pt x="65436" y="1538198"/>
                    <a:pt x="39893" y="1512655"/>
                  </a:cubicBezTo>
                  <a:cubicBezTo>
                    <a:pt x="14350" y="1487112"/>
                    <a:pt x="0" y="1452468"/>
                    <a:pt x="0" y="1416345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83258" cy="1600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5400000">
            <a:off x="4371201" y="4705232"/>
            <a:ext cx="389788" cy="389788"/>
          </a:xfrm>
          <a:custGeom>
            <a:avLst/>
            <a:gdLst/>
            <a:ahLst/>
            <a:cxnLst/>
            <a:rect l="l" t="t" r="r" b="b"/>
            <a:pathLst>
              <a:path w="389788" h="389788">
                <a:moveTo>
                  <a:pt x="0" y="0"/>
                </a:moveTo>
                <a:lnTo>
                  <a:pt x="389788" y="0"/>
                </a:lnTo>
                <a:lnTo>
                  <a:pt x="389788" y="389788"/>
                </a:lnTo>
                <a:lnTo>
                  <a:pt x="0" y="38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9548625" y="876300"/>
            <a:ext cx="7710675" cy="816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6603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Dashboard Evaluation</a:t>
            </a:r>
            <a:endParaRPr lang="en-US" sz="5199" b="1" u="none" strike="noStrike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32627" y="3713271"/>
            <a:ext cx="13214880" cy="40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3080"/>
              </a:lnSpc>
              <a:spcBef>
                <a:spcPct val="0"/>
              </a:spcBef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Aileron Bold" panose="020B0604020202020204" charset="0"/>
              </a:rPr>
              <a:t>Quality of the Dashboard</a:t>
            </a:r>
            <a:endParaRPr lang="en-US" sz="3200" b="1" u="none" strike="noStrike" dirty="0">
              <a:solidFill>
                <a:schemeClr val="tx2">
                  <a:lumMod val="50000"/>
                </a:schemeClr>
              </a:solidFill>
              <a:latin typeface="Aileron Bold" panose="020B0604020202020204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324600" y="5827897"/>
            <a:ext cx="9256434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Aileron Bold" panose="020B0604020202020204" charset="0"/>
              </a:rPr>
              <a:t>Clear and easy to read</a:t>
            </a:r>
          </a:p>
          <a:p>
            <a:endParaRPr lang="en-US" sz="3600" dirty="0">
              <a:solidFill>
                <a:schemeClr val="tx2">
                  <a:lumMod val="50000"/>
                </a:schemeClr>
              </a:solidFill>
              <a:latin typeface="Aileron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Aileron Bold" panose="020B0604020202020204" charset="0"/>
              </a:rPr>
              <a:t>Chart types match the data</a:t>
            </a:r>
          </a:p>
          <a:p>
            <a:endParaRPr lang="en-US" sz="3600" dirty="0">
              <a:solidFill>
                <a:schemeClr val="tx2">
                  <a:lumMod val="50000"/>
                </a:schemeClr>
              </a:solidFill>
              <a:latin typeface="Aileron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Aileron Bold" panose="020B0604020202020204" charset="0"/>
              </a:rPr>
              <a:t>Interactive filtering helps explore trends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tx2">
                  <a:lumMod val="50000"/>
                </a:schemeClr>
              </a:solidFill>
              <a:latin typeface="Aileron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Aileron Bold" panose="020B0604020202020204" charset="0"/>
              </a:rPr>
              <a:t>Designed to avoid clutter and confusion</a:t>
            </a:r>
          </a:p>
        </p:txBody>
      </p:sp>
      <p:sp>
        <p:nvSpPr>
          <p:cNvPr id="27" name="Freeform 27"/>
          <p:cNvSpPr/>
          <p:nvPr/>
        </p:nvSpPr>
        <p:spPr>
          <a:xfrm rot="5400000">
            <a:off x="9019092" y="4705232"/>
            <a:ext cx="389788" cy="389788"/>
          </a:xfrm>
          <a:custGeom>
            <a:avLst/>
            <a:gdLst/>
            <a:ahLst/>
            <a:cxnLst/>
            <a:rect l="l" t="t" r="r" b="b"/>
            <a:pathLst>
              <a:path w="389788" h="389788">
                <a:moveTo>
                  <a:pt x="0" y="0"/>
                </a:moveTo>
                <a:lnTo>
                  <a:pt x="389788" y="0"/>
                </a:lnTo>
                <a:lnTo>
                  <a:pt x="389788" y="389788"/>
                </a:lnTo>
                <a:lnTo>
                  <a:pt x="0" y="38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5400000">
            <a:off x="13666983" y="4705232"/>
            <a:ext cx="389788" cy="389788"/>
          </a:xfrm>
          <a:custGeom>
            <a:avLst/>
            <a:gdLst/>
            <a:ahLst/>
            <a:cxnLst/>
            <a:rect l="l" t="t" r="r" b="b"/>
            <a:pathLst>
              <a:path w="389788" h="389788">
                <a:moveTo>
                  <a:pt x="0" y="0"/>
                </a:moveTo>
                <a:lnTo>
                  <a:pt x="389788" y="0"/>
                </a:lnTo>
                <a:lnTo>
                  <a:pt x="389788" y="389788"/>
                </a:lnTo>
                <a:lnTo>
                  <a:pt x="0" y="38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4044420" y="-1848214"/>
            <a:ext cx="3691868" cy="3691868"/>
          </a:xfrm>
          <a:custGeom>
            <a:avLst/>
            <a:gdLst/>
            <a:ahLst/>
            <a:cxnLst/>
            <a:rect l="l" t="t" r="r" b="b"/>
            <a:pathLst>
              <a:path w="3691868" h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3396943" y="1028700"/>
            <a:ext cx="647477" cy="647477"/>
          </a:xfrm>
          <a:custGeom>
            <a:avLst/>
            <a:gdLst/>
            <a:ahLst/>
            <a:cxnLst/>
            <a:rect l="l" t="t" r="r" b="b"/>
            <a:pathLst>
              <a:path w="647477" h="647477">
                <a:moveTo>
                  <a:pt x="0" y="0"/>
                </a:moveTo>
                <a:lnTo>
                  <a:pt x="647477" y="0"/>
                </a:lnTo>
                <a:lnTo>
                  <a:pt x="647477" y="647477"/>
                </a:lnTo>
                <a:lnTo>
                  <a:pt x="0" y="6474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59E275D-1EBB-EDE0-2C56-1E87B2A4DD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7180529" y="9244180"/>
            <a:ext cx="1633870" cy="4999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085D989-BB31-962A-BFE3-C406C7E97A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7180529" y="7516932"/>
            <a:ext cx="1633870" cy="4999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3D4F0DF-F8C6-6826-9FB7-49B36ECBE3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40979" y="8416029"/>
            <a:ext cx="2761727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a black background&#10;&#10;AI-generated content may be incorrect.">
            <a:extLst>
              <a:ext uri="{FF2B5EF4-FFF2-40B4-BE49-F238E27FC236}">
                <a16:creationId xmlns:a16="http://schemas.microsoft.com/office/drawing/2014/main" id="{09A16244-8D8F-8B95-6AF4-A22BB7E99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55650" y="1593118"/>
            <a:ext cx="8356599" cy="7100762"/>
          </a:xfrm>
          <a:prstGeom prst="rect">
            <a:avLst/>
          </a:prstGeom>
        </p:spPr>
      </p:pic>
      <p:pic>
        <p:nvPicPr>
          <p:cNvPr id="6" name="Picture 5" descr="A blue circle with a black background&#10;&#10;AI-generated content may be incorrect.">
            <a:extLst>
              <a:ext uri="{FF2B5EF4-FFF2-40B4-BE49-F238E27FC236}">
                <a16:creationId xmlns:a16="http://schemas.microsoft.com/office/drawing/2014/main" id="{533CA7BC-6D12-761D-23C7-110DB3A58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175748" y="1593118"/>
            <a:ext cx="8356599" cy="71007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A39407-D74E-95B0-9289-4500E0E6FE22}"/>
              </a:ext>
            </a:extLst>
          </p:cNvPr>
          <p:cNvSpPr txBox="1"/>
          <p:nvPr/>
        </p:nvSpPr>
        <p:spPr>
          <a:xfrm>
            <a:off x="1219200" y="876300"/>
            <a:ext cx="3581400" cy="90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6603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5199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Insights</a:t>
            </a:r>
            <a:endParaRPr kumimoji="0" lang="en-US" sz="5199" b="1" i="0" u="none" strike="noStrike" kern="1200" cap="none" spc="0" normalizeH="0" baseline="0" noProof="0">
              <a:ln>
                <a:noFill/>
              </a:ln>
              <a:solidFill>
                <a:srgbClr val="0E2F5F"/>
              </a:solidFill>
              <a:effectLst/>
              <a:uLnTx/>
              <a:uFillTx/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21B5DB4-73DA-D7CA-2077-CF7F1104D5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5522620"/>
              </p:ext>
            </p:extLst>
          </p:nvPr>
        </p:nvGraphicFramePr>
        <p:xfrm>
          <a:off x="2209800" y="1524000"/>
          <a:ext cx="16459200" cy="723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3315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34028" y="6733028"/>
            <a:ext cx="5050544" cy="5050544"/>
          </a:xfrm>
          <a:custGeom>
            <a:avLst/>
            <a:gdLst/>
            <a:ahLst/>
            <a:cxnLst/>
            <a:rect l="l" t="t" r="r" b="b"/>
            <a:pathLst>
              <a:path w="5050544" h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4392170"/>
            <a:ext cx="5650143" cy="5894830"/>
            <a:chOff x="0" y="0"/>
            <a:chExt cx="1488104" cy="15525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8104" cy="1552548"/>
            </a:xfrm>
            <a:custGeom>
              <a:avLst/>
              <a:gdLst/>
              <a:ahLst/>
              <a:cxnLst/>
              <a:rect l="l" t="t" r="r" b="b"/>
              <a:pathLst>
                <a:path w="1488104" h="1552548">
                  <a:moveTo>
                    <a:pt x="0" y="0"/>
                  </a:moveTo>
                  <a:lnTo>
                    <a:pt x="1488104" y="0"/>
                  </a:lnTo>
                  <a:lnTo>
                    <a:pt x="1488104" y="1552548"/>
                  </a:lnTo>
                  <a:lnTo>
                    <a:pt x="0" y="1552548"/>
                  </a:lnTo>
                  <a:close/>
                </a:path>
              </a:pathLst>
            </a:custGeom>
            <a:solidFill>
              <a:srgbClr val="E1ED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88104" cy="1600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96884" y="762195"/>
            <a:ext cx="1858734" cy="18587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926232" y="1243024"/>
            <a:ext cx="600038" cy="897076"/>
          </a:xfrm>
          <a:custGeom>
            <a:avLst/>
            <a:gdLst/>
            <a:ahLst/>
            <a:cxnLst/>
            <a:rect l="l" t="t" r="r" b="b"/>
            <a:pathLst>
              <a:path w="600038" h="897076">
                <a:moveTo>
                  <a:pt x="0" y="0"/>
                </a:moveTo>
                <a:lnTo>
                  <a:pt x="600038" y="0"/>
                </a:lnTo>
                <a:lnTo>
                  <a:pt x="600038" y="897076"/>
                </a:lnTo>
                <a:lnTo>
                  <a:pt x="0" y="897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296884" y="8817045"/>
            <a:ext cx="2763919" cy="882511"/>
          </a:xfrm>
          <a:custGeom>
            <a:avLst/>
            <a:gdLst/>
            <a:ahLst/>
            <a:cxnLst/>
            <a:rect l="l" t="t" r="r" b="b"/>
            <a:pathLst>
              <a:path w="2763919" h="882511">
                <a:moveTo>
                  <a:pt x="0" y="0"/>
                </a:moveTo>
                <a:lnTo>
                  <a:pt x="2763918" y="0"/>
                </a:lnTo>
                <a:lnTo>
                  <a:pt x="2763918" y="882510"/>
                </a:lnTo>
                <a:lnTo>
                  <a:pt x="0" y="882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402255" y="9029033"/>
            <a:ext cx="1483489" cy="458533"/>
          </a:xfrm>
          <a:custGeom>
            <a:avLst/>
            <a:gdLst/>
            <a:ahLst/>
            <a:cxnLst/>
            <a:rect l="l" t="t" r="r" b="b"/>
            <a:pathLst>
              <a:path w="1483489" h="458533">
                <a:moveTo>
                  <a:pt x="0" y="0"/>
                </a:moveTo>
                <a:lnTo>
                  <a:pt x="1483490" y="0"/>
                </a:lnTo>
                <a:lnTo>
                  <a:pt x="1483490" y="458534"/>
                </a:lnTo>
                <a:lnTo>
                  <a:pt x="0" y="4585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809120" y="3458146"/>
            <a:ext cx="8855598" cy="4341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Aileron"/>
                <a:ea typeface="Aileron"/>
                <a:cs typeface="Aileron"/>
                <a:sym typeface="Aileron"/>
              </a:rPr>
              <a:t>Tasks divided by strengths</a:t>
            </a: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chemeClr val="tx2">
                  <a:lumMod val="50000"/>
                </a:schemeClr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chemeClr val="tx2">
                  <a:lumMod val="50000"/>
                </a:schemeClr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Aileron"/>
                <a:ea typeface="Aileron"/>
                <a:cs typeface="Aileron"/>
                <a:sym typeface="Aileron"/>
              </a:rPr>
              <a:t>2.  Worked together to review and refine</a:t>
            </a:r>
          </a:p>
          <a:p>
            <a:pPr marL="514350" indent="-514350" algn="just">
              <a:lnSpc>
                <a:spcPct val="150000"/>
              </a:lnSpc>
              <a:buAutoNum type="arabicPeriod" startAt="3"/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Aileron"/>
                <a:ea typeface="Aileron"/>
                <a:cs typeface="Aileron"/>
                <a:sym typeface="Aileron"/>
              </a:rPr>
              <a:t>Decisions made as a group</a:t>
            </a: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chemeClr val="tx2">
                  <a:lumMod val="50000"/>
                </a:schemeClr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060802" y="927185"/>
            <a:ext cx="8203709" cy="1915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7619"/>
              </a:lnSpc>
            </a:pPr>
            <a:r>
              <a:rPr lang="en-US" sz="5999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Team Collaboration Reflection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264511" y="5348601"/>
            <a:ext cx="1025128" cy="1025128"/>
          </a:xfrm>
          <a:custGeom>
            <a:avLst/>
            <a:gdLst/>
            <a:ahLst/>
            <a:cxnLst/>
            <a:rect l="l" t="t" r="r" b="b"/>
            <a:pathLst>
              <a:path w="1025128" h="1025128">
                <a:moveTo>
                  <a:pt x="0" y="0"/>
                </a:moveTo>
                <a:lnTo>
                  <a:pt x="1025128" y="0"/>
                </a:lnTo>
                <a:lnTo>
                  <a:pt x="1025128" y="1025127"/>
                </a:lnTo>
                <a:lnTo>
                  <a:pt x="0" y="102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B0ADB0-AA8E-7B35-8D42-A87305DAB82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6549"/>
          <a:stretch>
            <a:fillRect/>
          </a:stretch>
        </p:blipFill>
        <p:spPr>
          <a:xfrm>
            <a:off x="872446" y="1858815"/>
            <a:ext cx="5962650" cy="5572125"/>
          </a:xfrm>
          <a:prstGeom prst="ellipse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B9E5FD-A87A-AF51-EF1F-DBE9458E1424}"/>
              </a:ext>
            </a:extLst>
          </p:cNvPr>
          <p:cNvSpPr txBox="1"/>
          <p:nvPr/>
        </p:nvSpPr>
        <p:spPr>
          <a:xfrm>
            <a:off x="8402644" y="4040943"/>
            <a:ext cx="74891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Aileron" panose="020B0604020202020204" charset="0"/>
              </a:rPr>
              <a:t>  Piyara:        Data cleaning &amp; merging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Aileron" panose="020B0604020202020204" charset="0"/>
              </a:rPr>
              <a:t>  Sajini:          Visualization of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Aileron" panose="020B0604020202020204" charset="0"/>
              </a:rPr>
              <a:t>  Maleesha: Presentation &amp; narrative design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60A999-DE91-94EC-6B3D-38366FF0E00C}"/>
              </a:ext>
            </a:extLst>
          </p:cNvPr>
          <p:cNvSpPr txBox="1"/>
          <p:nvPr/>
        </p:nvSpPr>
        <p:spPr>
          <a:xfrm>
            <a:off x="8488088" y="6987562"/>
            <a:ext cx="6675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Aileron" panose="020B0604020202020204" charset="0"/>
              </a:rPr>
              <a:t>Made and designed the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70689" y="3176727"/>
            <a:ext cx="9346622" cy="389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58"/>
              </a:lnSpc>
            </a:pPr>
            <a:r>
              <a:rPr lang="en-US" sz="16848" b="1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THANK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49048" y="7616640"/>
            <a:ext cx="3789904" cy="665701"/>
            <a:chOff x="0" y="0"/>
            <a:chExt cx="998164" cy="1753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98164" cy="175329"/>
            </a:xfrm>
            <a:custGeom>
              <a:avLst/>
              <a:gdLst/>
              <a:ahLst/>
              <a:cxnLst/>
              <a:rect l="l" t="t" r="r" b="b"/>
              <a:pathLst>
                <a:path w="998164" h="175329">
                  <a:moveTo>
                    <a:pt x="87664" y="0"/>
                  </a:moveTo>
                  <a:lnTo>
                    <a:pt x="910500" y="0"/>
                  </a:lnTo>
                  <a:cubicBezTo>
                    <a:pt x="958915" y="0"/>
                    <a:pt x="998164" y="39249"/>
                    <a:pt x="998164" y="87664"/>
                  </a:cubicBezTo>
                  <a:lnTo>
                    <a:pt x="998164" y="87664"/>
                  </a:lnTo>
                  <a:cubicBezTo>
                    <a:pt x="998164" y="110914"/>
                    <a:pt x="988928" y="133212"/>
                    <a:pt x="972488" y="149652"/>
                  </a:cubicBezTo>
                  <a:cubicBezTo>
                    <a:pt x="956048" y="166093"/>
                    <a:pt x="933750" y="175329"/>
                    <a:pt x="910500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518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98164" cy="22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24608" y="-1072654"/>
            <a:ext cx="11438784" cy="2839490"/>
            <a:chOff x="0" y="0"/>
            <a:chExt cx="3012684" cy="7478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12684" cy="747849"/>
            </a:xfrm>
            <a:custGeom>
              <a:avLst/>
              <a:gdLst/>
              <a:ahLst/>
              <a:cxnLst/>
              <a:rect l="l" t="t" r="r" b="b"/>
              <a:pathLst>
                <a:path w="3012684" h="747849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95527" y="1028700"/>
            <a:ext cx="1496945" cy="149694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673581" y="1447879"/>
            <a:ext cx="940838" cy="658587"/>
          </a:xfrm>
          <a:custGeom>
            <a:avLst/>
            <a:gdLst/>
            <a:ahLst/>
            <a:cxnLst/>
            <a:rect l="l" t="t" r="r" b="b"/>
            <a:pathLst>
              <a:path w="940838" h="658587">
                <a:moveTo>
                  <a:pt x="0" y="0"/>
                </a:moveTo>
                <a:lnTo>
                  <a:pt x="940838" y="0"/>
                </a:lnTo>
                <a:lnTo>
                  <a:pt x="940838" y="658587"/>
                </a:lnTo>
                <a:lnTo>
                  <a:pt x="0" y="658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424608" y="4750679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0" y="0"/>
                </a:moveTo>
                <a:lnTo>
                  <a:pt x="1519327" y="0"/>
                </a:lnTo>
                <a:lnTo>
                  <a:pt x="1519327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flipH="1">
            <a:off x="13344065" y="4750679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1519327" y="0"/>
                </a:moveTo>
                <a:lnTo>
                  <a:pt x="0" y="0"/>
                </a:lnTo>
                <a:lnTo>
                  <a:pt x="0" y="469610"/>
                </a:lnTo>
                <a:lnTo>
                  <a:pt x="1519327" y="469610"/>
                </a:lnTo>
                <a:lnTo>
                  <a:pt x="15193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0" y="8996715"/>
            <a:ext cx="18288000" cy="1290285"/>
            <a:chOff x="0" y="0"/>
            <a:chExt cx="4816593" cy="3398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16592" cy="339828"/>
            </a:xfrm>
            <a:custGeom>
              <a:avLst/>
              <a:gdLst/>
              <a:ahLst/>
              <a:cxnLst/>
              <a:rect l="l" t="t" r="r" b="b"/>
              <a:pathLst>
                <a:path w="4816592" h="339828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0E2F5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231</Words>
  <Application>Microsoft Office PowerPoint</Application>
  <PresentationFormat>Custom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Aileron Bold</vt:lpstr>
      <vt:lpstr>Calibri</vt:lpstr>
      <vt:lpstr>Aileron</vt:lpstr>
      <vt:lpstr>Arial</vt:lpstr>
      <vt:lpstr>Akzidenz-Grotesk Heavy</vt:lpstr>
      <vt:lpstr>Barlow Condensed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Aesthetic Minimalist Thesis Defense Presentation</dc:title>
  <dc:creator>Piyara</dc:creator>
  <cp:lastModifiedBy>Piyara 20241322</cp:lastModifiedBy>
  <cp:revision>5</cp:revision>
  <dcterms:created xsi:type="dcterms:W3CDTF">2006-08-16T00:00:00Z</dcterms:created>
  <dcterms:modified xsi:type="dcterms:W3CDTF">2025-11-06T06:28:02Z</dcterms:modified>
  <dc:identifier>DAG31cMHklg</dc:identifier>
</cp:coreProperties>
</file>